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loodSense AI" id="{50e48f7f-7889-c0a9-839c-6b863ee6ed7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2545"/>
                </a:solidFill>
                <a:latin typeface="+mn-lt"/>
              </a:rPr>
              <a:t>Flood probability as rain intensifies (illustrative)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Flood probability (%)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545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Now</c:v>
                  </c:pt>
                  <c:pt idx="1">
                    <c:v>+1h</c:v>
                  </c:pt>
                  <c:pt idx="2">
                    <c:v>+2h</c:v>
                  </c:pt>
                  <c:pt idx="3">
                    <c:v>+3h</c:v>
                  </c:pt>
                  <c:pt idx="4">
                    <c:v>+4h</c:v>
                  </c:pt>
                  <c:pt idx="5">
                    <c:v>+5h</c:v>
                  </c:pt>
                  <c:pt idx="6">
                    <c:v>+6h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18</c:v>
                </c:pt>
                <c:pt idx="2">
                  <c:v>31</c:v>
                </c:pt>
                <c:pt idx="3">
                  <c:v>47</c:v>
                </c:pt>
                <c:pt idx="4">
                  <c:v>63</c:v>
                </c:pt>
                <c:pt idx="5">
                  <c:v>74</c:v>
                </c:pt>
                <c:pt idx="6">
                  <c:v>82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B2545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B6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5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B6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2545"/>
                </a:solidFill>
                <a:latin typeface="+mn-lt"/>
              </a:rPr>
              <a:t>1,000 people to evacuate (illustrative)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Capacity</c:v>
                </c:pt>
              </c:strCache>
            </c:strRef>
          </c:tx>
          <c:spPr>
            <a:solidFill>
              <a:srgbClr val="BFD3E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54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Shelter A</c:v>
                  </c:pt>
                  <c:pt idx="1">
                    <c:v>Shelter B</c:v>
                  </c:pt>
                  <c:pt idx="2">
                    <c:v>Shelter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300</c:v>
                </c:pt>
                <c:pt idx="1">
                  <c:v>500</c:v>
                </c:pt>
                <c:pt idx="2">
                  <c:v>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Assigned</c:v>
                </c:pt>
              </c:strCache>
            </c:strRef>
          </c:tx>
          <c:spPr>
            <a:solidFill>
              <a:srgbClr val="1E78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54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Shelter A</c:v>
                  </c:pt>
                  <c:pt idx="1">
                    <c:v>Shelter B</c:v>
                  </c:pt>
                  <c:pt idx="2">
                    <c:v>Shelter 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300</c:v>
                </c:pt>
                <c:pt idx="1">
                  <c:v>400</c:v>
                </c:pt>
                <c:pt idx="2">
                  <c:v>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254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B6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D5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B6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5B6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idea: a system that tells people whether flooding will happen, which areas are dangerous and where to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Contrast: a static map is out of date the moment the rain changes. Our system is built around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to right: data in, AI prediction, then risk map, route, shelter and score. The ribbon is the core idea: everything updates when conditions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simple: Random Forest on rainfall, river level and elevation. Output is a probability mapped to Low, Medium or High. Chart values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Heavy-rainfall scenario. Zone size comes from the model output plus river distance and elevation. Map is a simulated demo scene.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person, same start point. When rainfall rises, the middle bridge is flagged flooded and the system reroutes automatically, here to Shelter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from the brief: capacities 300, 500, 400 for 1,000 people. The allocator respects capacity and recomputes whenever a shelter becomes unreachable.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core idea: rain increases, flood risk changes, dangerous roads are blocked, routes change automatically and people are reassigned to available shelters.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 map" descr="Flood risk map with a rerouted evacuation pa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0"/>
            <a:ext cx="4983480" cy="51435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1097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FloodSense AI</a:t>
            </a:r>
            <a:endParaRPr lang="en-US" sz="40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21031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Predict the flood. Block the danger. Move people to safety.</a:t>
            </a:r>
            <a:endParaRPr lang="en-US" sz="1800" dirty="0"/>
          </a:p>
        </p:txBody>
      </p:sp>
      <p:sp>
        <p:nvSpPr>
          <p:cNvPr id="5" name="dot0"/>
          <p:cNvSpPr/>
          <p:nvPr/>
        </p:nvSpPr>
        <p:spPr>
          <a:xfrm>
            <a:off x="457200" y="3337560"/>
            <a:ext cx="146304" cy="14630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pill0"/>
          <p:cNvSpPr txBox="1"/>
          <p:nvPr/>
        </p:nvSpPr>
        <p:spPr>
          <a:xfrm>
            <a:off x="658368" y="32735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Predict</a:t>
            </a:r>
            <a:endParaRPr lang="en-US" sz="1200" dirty="0"/>
          </a:p>
        </p:txBody>
      </p:sp>
      <p:sp>
        <p:nvSpPr>
          <p:cNvPr id="7" name="dot1"/>
          <p:cNvSpPr/>
          <p:nvPr/>
        </p:nvSpPr>
        <p:spPr>
          <a:xfrm>
            <a:off x="1325880" y="3337560"/>
            <a:ext cx="146304" cy="146304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pill1"/>
          <p:cNvSpPr txBox="1"/>
          <p:nvPr/>
        </p:nvSpPr>
        <p:spPr>
          <a:xfrm>
            <a:off x="1527048" y="32735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Map</a:t>
            </a:r>
            <a:endParaRPr lang="en-US" sz="1200" dirty="0"/>
          </a:p>
        </p:txBody>
      </p:sp>
      <p:sp>
        <p:nvSpPr>
          <p:cNvPr id="9" name="dot2"/>
          <p:cNvSpPr/>
          <p:nvPr/>
        </p:nvSpPr>
        <p:spPr>
          <a:xfrm>
            <a:off x="2194560" y="3337560"/>
            <a:ext cx="146304" cy="146304"/>
          </a:xfrm>
          <a:prstGeom prst="ellipse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0" name="pill2"/>
          <p:cNvSpPr txBox="1"/>
          <p:nvPr/>
        </p:nvSpPr>
        <p:spPr>
          <a:xfrm>
            <a:off x="2395728" y="32735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Route</a:t>
            </a:r>
            <a:endParaRPr lang="en-US" sz="1200" dirty="0"/>
          </a:p>
        </p:txBody>
      </p:sp>
      <p:sp>
        <p:nvSpPr>
          <p:cNvPr id="11" name="dot3"/>
          <p:cNvSpPr/>
          <p:nvPr/>
        </p:nvSpPr>
        <p:spPr>
          <a:xfrm>
            <a:off x="3063240" y="3337560"/>
            <a:ext cx="146304" cy="146304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pill3"/>
          <p:cNvSpPr txBox="1"/>
          <p:nvPr/>
        </p:nvSpPr>
        <p:spPr>
          <a:xfrm>
            <a:off x="3264408" y="32735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Shelter</a:t>
            </a:r>
            <a:endParaRPr lang="en-US" sz="1200" dirty="0"/>
          </a:p>
        </p:txBody>
      </p:sp>
      <p:sp>
        <p:nvSpPr>
          <p:cNvPr id="13" name="Tagline"/>
          <p:cNvSpPr txBox="1"/>
          <p:nvPr/>
        </p:nvSpPr>
        <p:spPr>
          <a:xfrm>
            <a:off x="457200" y="4206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AI-powered flood prediction, risk zoning and live evacuation planning</a:t>
            </a:r>
            <a:endParaRPr lang="en-US" sz="12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Static flood maps can't keep up</a:t>
            </a:r>
            <a:endParaRPr lang="en-US" sz="3000" dirty="0"/>
          </a:p>
        </p:txBody>
      </p:sp>
      <p:sp>
        <p:nvSpPr>
          <p:cNvPr id="3" name="Card Today"/>
          <p:cNvSpPr/>
          <p:nvPr/>
        </p:nvSpPr>
        <p:spPr>
          <a:xfrm>
            <a:off x="457200" y="1188720"/>
            <a:ext cx="4023360" cy="352044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sp>
        <p:nvSpPr>
          <p:cNvPr id="4" name="Head Today"/>
          <p:cNvSpPr txBox="1"/>
          <p:nvPr/>
        </p:nvSpPr>
        <p:spPr>
          <a:xfrm>
            <a:off x="7315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200" dirty="0"/>
          </a:p>
        </p:txBody>
      </p:sp>
      <p:pic>
        <p:nvPicPr>
          <p:cNvPr id="5" name="ic0" descr="Static risk maps, updated by h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48256"/>
            <a:ext cx="329184" cy="329184"/>
          </a:xfrm>
          <a:prstGeom prst="rect">
            <a:avLst/>
          </a:prstGeom>
        </p:spPr>
      </p:pic>
      <p:sp>
        <p:nvSpPr>
          <p:cNvPr id="6" name="row0"/>
          <p:cNvSpPr txBox="1"/>
          <p:nvPr/>
        </p:nvSpPr>
        <p:spPr>
          <a:xfrm>
            <a:off x="1234440" y="19202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Static risk maps, updated by hand</a:t>
            </a:r>
            <a:endParaRPr lang="en-US" sz="1400" dirty="0"/>
          </a:p>
        </p:txBody>
      </p:sp>
      <p:pic>
        <p:nvPicPr>
          <p:cNvPr id="7" name="ic1" descr="Evacuation routes fixed on pap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34056"/>
            <a:ext cx="329184" cy="329184"/>
          </a:xfrm>
          <a:prstGeom prst="rect">
            <a:avLst/>
          </a:prstGeom>
        </p:spPr>
      </p:pic>
      <p:sp>
        <p:nvSpPr>
          <p:cNvPr id="8" name="row1"/>
          <p:cNvSpPr txBox="1"/>
          <p:nvPr/>
        </p:nvSpPr>
        <p:spPr>
          <a:xfrm>
            <a:off x="1234440" y="2606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Evacuation routes fixed on paper</a:t>
            </a:r>
            <a:endParaRPr lang="en-US" sz="1400" dirty="0"/>
          </a:p>
        </p:txBody>
      </p:sp>
      <p:pic>
        <p:nvPicPr>
          <p:cNvPr id="9" name="ic2" descr="Flooded roads found too l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19856"/>
            <a:ext cx="329184" cy="329184"/>
          </a:xfrm>
          <a:prstGeom prst="rect">
            <a:avLst/>
          </a:prstGeom>
        </p:spPr>
      </p:pic>
      <p:sp>
        <p:nvSpPr>
          <p:cNvPr id="10" name="row2"/>
          <p:cNvSpPr txBox="1"/>
          <p:nvPr/>
        </p:nvSpPr>
        <p:spPr>
          <a:xfrm>
            <a:off x="1234440" y="32918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Flooded roads found too late</a:t>
            </a:r>
            <a:endParaRPr lang="en-US" sz="1400" dirty="0"/>
          </a:p>
        </p:txBody>
      </p:sp>
      <p:pic>
        <p:nvPicPr>
          <p:cNvPr id="11" name="ic3" descr="Shelter overload and guesswor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05656"/>
            <a:ext cx="329184" cy="329184"/>
          </a:xfrm>
          <a:prstGeom prst="rect">
            <a:avLst/>
          </a:prstGeom>
        </p:spPr>
      </p:pic>
      <p:sp>
        <p:nvSpPr>
          <p:cNvPr id="12" name="row3"/>
          <p:cNvSpPr txBox="1"/>
          <p:nvPr/>
        </p:nvSpPr>
        <p:spPr>
          <a:xfrm>
            <a:off x="1234440" y="39776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Shelter overload and guesswork</a:t>
            </a:r>
            <a:endParaRPr lang="en-US" sz="1400" dirty="0"/>
          </a:p>
        </p:txBody>
      </p:sp>
      <p:sp>
        <p:nvSpPr>
          <p:cNvPr id="13" name="Card FloodSense AI"/>
          <p:cNvSpPr/>
          <p:nvPr/>
        </p:nvSpPr>
        <p:spPr>
          <a:xfrm>
            <a:off x="4663440" y="1188720"/>
            <a:ext cx="4023360" cy="3520440"/>
          </a:xfrm>
          <a:prstGeom prst="roundRect">
            <a:avLst>
              <a:gd name="adj" fmla="val 25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sp>
        <p:nvSpPr>
          <p:cNvPr id="14" name="Head FloodSense AI"/>
          <p:cNvSpPr txBox="1"/>
          <p:nvPr/>
        </p:nvSpPr>
        <p:spPr>
          <a:xfrm>
            <a:off x="493776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DD0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FloodSense AI</a:t>
            </a:r>
            <a:endParaRPr lang="en-US" sz="2200" dirty="0"/>
          </a:p>
        </p:txBody>
      </p:sp>
      <p:pic>
        <p:nvPicPr>
          <p:cNvPr id="15" name="ic0" descr="Risk recalculated as rain and river data chan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048256"/>
            <a:ext cx="329184" cy="329184"/>
          </a:xfrm>
          <a:prstGeom prst="rect">
            <a:avLst/>
          </a:prstGeom>
        </p:spPr>
      </p:pic>
      <p:sp>
        <p:nvSpPr>
          <p:cNvPr id="16" name="row0"/>
          <p:cNvSpPr txBox="1"/>
          <p:nvPr/>
        </p:nvSpPr>
        <p:spPr>
          <a:xfrm>
            <a:off x="5440680" y="19202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Risk recalculated as rain and river data change</a:t>
            </a:r>
            <a:endParaRPr lang="en-US" sz="1400" dirty="0"/>
          </a:p>
        </p:txBody>
      </p:sp>
      <p:pic>
        <p:nvPicPr>
          <p:cNvPr id="17" name="ic1" descr="Routes rebuilt around blocked road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734056"/>
            <a:ext cx="329184" cy="329184"/>
          </a:xfrm>
          <a:prstGeom prst="rect">
            <a:avLst/>
          </a:prstGeom>
        </p:spPr>
      </p:pic>
      <p:sp>
        <p:nvSpPr>
          <p:cNvPr id="18" name="row1"/>
          <p:cNvSpPr txBox="1"/>
          <p:nvPr/>
        </p:nvSpPr>
        <p:spPr>
          <a:xfrm>
            <a:off x="5440680" y="2606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Routes rebuilt around blocked roads</a:t>
            </a:r>
            <a:endParaRPr lang="en-US" sz="1400" dirty="0"/>
          </a:p>
        </p:txBody>
      </p:sp>
      <p:pic>
        <p:nvPicPr>
          <p:cNvPr id="19" name="ic2" descr="Early warning before roads go und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419856"/>
            <a:ext cx="329184" cy="329184"/>
          </a:xfrm>
          <a:prstGeom prst="rect">
            <a:avLst/>
          </a:prstGeom>
        </p:spPr>
      </p:pic>
      <p:sp>
        <p:nvSpPr>
          <p:cNvPr id="20" name="row2"/>
          <p:cNvSpPr txBox="1"/>
          <p:nvPr/>
        </p:nvSpPr>
        <p:spPr>
          <a:xfrm>
            <a:off x="5440680" y="32918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Early warning before roads go under</a:t>
            </a:r>
            <a:endParaRPr lang="en-US" sz="1400" dirty="0"/>
          </a:p>
        </p:txBody>
      </p:sp>
      <p:pic>
        <p:nvPicPr>
          <p:cNvPr id="21" name="ic3" descr="People spread across shelters by capacity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4105656"/>
            <a:ext cx="329184" cy="329184"/>
          </a:xfrm>
          <a:prstGeom prst="rect">
            <a:avLst/>
          </a:prstGeom>
        </p:spPr>
      </p:pic>
      <p:sp>
        <p:nvSpPr>
          <p:cNvPr id="22" name="row3"/>
          <p:cNvSpPr txBox="1"/>
          <p:nvPr/>
        </p:nvSpPr>
        <p:spPr>
          <a:xfrm>
            <a:off x="5440680" y="39776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People spread across shelters by capacity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the system works</a:t>
            </a:r>
            <a:endParaRPr lang="en-US" sz="3000" dirty="0"/>
          </a:p>
        </p:txBody>
      </p:sp>
      <p:sp>
        <p:nvSpPr>
          <p:cNvPr id="3" name="Inputs label"/>
          <p:cNvSpPr txBox="1"/>
          <p:nvPr/>
        </p:nvSpPr>
        <p:spPr>
          <a:xfrm>
            <a:off x="457200" y="1097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B6C"/>
                </a:solidFill>
              </a:rPr>
              <a:t>INPUT DATA</a:t>
            </a:r>
            <a:endParaRPr lang="en-US" sz="1100" dirty="0"/>
          </a:p>
        </p:txBody>
      </p:sp>
      <p:sp>
        <p:nvSpPr>
          <p:cNvPr id="4" name="Outputs label"/>
          <p:cNvSpPr txBox="1"/>
          <p:nvPr/>
        </p:nvSpPr>
        <p:spPr>
          <a:xfrm>
            <a:off x="6492240" y="1097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B6C"/>
                </a:solidFill>
              </a:rPr>
              <a:t>OUTPUT</a:t>
            </a:r>
            <a:endParaRPr lang="en-US" sz="1100" dirty="0"/>
          </a:p>
        </p:txBody>
      </p:sp>
      <p:sp>
        <p:nvSpPr>
          <p:cNvPr id="5" name="In0"/>
          <p:cNvSpPr/>
          <p:nvPr/>
        </p:nvSpPr>
        <p:spPr>
          <a:xfrm>
            <a:off x="457200" y="1371600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sp>
        <p:nvSpPr>
          <p:cNvPr id="6" name="in icon 0 bg"/>
          <p:cNvSpPr/>
          <p:nvPr/>
        </p:nvSpPr>
        <p:spPr>
          <a:xfrm>
            <a:off x="530352" y="1417320"/>
            <a:ext cx="365760" cy="36576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pic>
        <p:nvPicPr>
          <p:cNvPr id="7" name="in icon 0" descr="in icon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50" y="1512418"/>
            <a:ext cx="175565" cy="175565"/>
          </a:xfrm>
          <a:prstGeom prst="rect">
            <a:avLst/>
          </a:prstGeom>
        </p:spPr>
      </p:pic>
      <p:sp>
        <p:nvSpPr>
          <p:cNvPr id="8" name="in text 0"/>
          <p:cNvSpPr txBox="1"/>
          <p:nvPr/>
        </p:nvSpPr>
        <p:spPr>
          <a:xfrm>
            <a:off x="987552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Rainfall</a:t>
            </a:r>
            <a:endParaRPr lang="en-US" sz="1400" dirty="0"/>
          </a:p>
        </p:txBody>
      </p:sp>
      <p:sp>
        <p:nvSpPr>
          <p:cNvPr id="9" name="Out0"/>
          <p:cNvSpPr/>
          <p:nvPr/>
        </p:nvSpPr>
        <p:spPr>
          <a:xfrm>
            <a:off x="6492240" y="1371600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sp>
        <p:nvSpPr>
          <p:cNvPr id="10" name="out icon 0 bg"/>
          <p:cNvSpPr/>
          <p:nvPr/>
        </p:nvSpPr>
        <p:spPr>
          <a:xfrm>
            <a:off x="6565392" y="1417320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1" name="out icon 0" descr="out icon 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490" y="1512418"/>
            <a:ext cx="175565" cy="175565"/>
          </a:xfrm>
          <a:prstGeom prst="rect">
            <a:avLst/>
          </a:prstGeom>
        </p:spPr>
      </p:pic>
      <p:sp>
        <p:nvSpPr>
          <p:cNvPr id="12" name="out text 0"/>
          <p:cNvSpPr txBox="1"/>
          <p:nvPr/>
        </p:nvSpPr>
        <p:spPr>
          <a:xfrm>
            <a:off x="7022592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 / Medium / High</a:t>
            </a:r>
            <a:endParaRPr lang="en-US" sz="1400" dirty="0"/>
          </a:p>
        </p:txBody>
      </p:sp>
      <p:sp>
        <p:nvSpPr>
          <p:cNvPr id="13" name="In1"/>
          <p:cNvSpPr/>
          <p:nvPr/>
        </p:nvSpPr>
        <p:spPr>
          <a:xfrm>
            <a:off x="457200" y="1901952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sp>
        <p:nvSpPr>
          <p:cNvPr id="14" name="in icon 1 bg"/>
          <p:cNvSpPr/>
          <p:nvPr/>
        </p:nvSpPr>
        <p:spPr>
          <a:xfrm>
            <a:off x="530352" y="1947672"/>
            <a:ext cx="365760" cy="36576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pic>
        <p:nvPicPr>
          <p:cNvPr id="15" name="in icon 1" descr="in icon 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2042770"/>
            <a:ext cx="175565" cy="175565"/>
          </a:xfrm>
          <a:prstGeom prst="rect">
            <a:avLst/>
          </a:prstGeom>
        </p:spPr>
      </p:pic>
      <p:sp>
        <p:nvSpPr>
          <p:cNvPr id="16" name="in text 1"/>
          <p:cNvSpPr txBox="1"/>
          <p:nvPr/>
        </p:nvSpPr>
        <p:spPr>
          <a:xfrm>
            <a:off x="987552" y="19019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River / water level</a:t>
            </a:r>
            <a:endParaRPr lang="en-US" sz="1400" dirty="0"/>
          </a:p>
        </p:txBody>
      </p:sp>
      <p:sp>
        <p:nvSpPr>
          <p:cNvPr id="17" name="Out1"/>
          <p:cNvSpPr/>
          <p:nvPr/>
        </p:nvSpPr>
        <p:spPr>
          <a:xfrm>
            <a:off x="6492240" y="1901952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sp>
        <p:nvSpPr>
          <p:cNvPr id="18" name="out icon 1 bg"/>
          <p:cNvSpPr/>
          <p:nvPr/>
        </p:nvSpPr>
        <p:spPr>
          <a:xfrm>
            <a:off x="6565392" y="1947672"/>
            <a:ext cx="365760" cy="36576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19" name="out icon 1" descr="out icon 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490" y="2042770"/>
            <a:ext cx="175565" cy="175565"/>
          </a:xfrm>
          <a:prstGeom prst="rect">
            <a:avLst/>
          </a:prstGeom>
        </p:spPr>
      </p:pic>
      <p:sp>
        <p:nvSpPr>
          <p:cNvPr id="20" name="out text 1"/>
          <p:cNvSpPr txBox="1"/>
          <p:nvPr/>
        </p:nvSpPr>
        <p:spPr>
          <a:xfrm>
            <a:off x="7022592" y="19019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Risk zone map</a:t>
            </a:r>
            <a:endParaRPr lang="en-US" sz="1400" dirty="0"/>
          </a:p>
        </p:txBody>
      </p:sp>
      <p:sp>
        <p:nvSpPr>
          <p:cNvPr id="21" name="In2"/>
          <p:cNvSpPr/>
          <p:nvPr/>
        </p:nvSpPr>
        <p:spPr>
          <a:xfrm>
            <a:off x="457200" y="2432304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sp>
        <p:nvSpPr>
          <p:cNvPr id="22" name="in icon 2 bg"/>
          <p:cNvSpPr/>
          <p:nvPr/>
        </p:nvSpPr>
        <p:spPr>
          <a:xfrm>
            <a:off x="530352" y="2478024"/>
            <a:ext cx="365760" cy="36576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pic>
        <p:nvPicPr>
          <p:cNvPr id="23" name="in icon 2" descr="in icon 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50" y="2573122"/>
            <a:ext cx="175565" cy="175565"/>
          </a:xfrm>
          <a:prstGeom prst="rect">
            <a:avLst/>
          </a:prstGeom>
        </p:spPr>
      </p:pic>
      <p:sp>
        <p:nvSpPr>
          <p:cNvPr id="24" name="in text 2"/>
          <p:cNvSpPr txBox="1"/>
          <p:nvPr/>
        </p:nvSpPr>
        <p:spPr>
          <a:xfrm>
            <a:off x="987552" y="2432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Location &amp; elevation</a:t>
            </a:r>
            <a:endParaRPr lang="en-US" sz="1400" dirty="0"/>
          </a:p>
        </p:txBody>
      </p:sp>
      <p:sp>
        <p:nvSpPr>
          <p:cNvPr id="25" name="Out2"/>
          <p:cNvSpPr/>
          <p:nvPr/>
        </p:nvSpPr>
        <p:spPr>
          <a:xfrm>
            <a:off x="6492240" y="2432304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sp>
        <p:nvSpPr>
          <p:cNvPr id="26" name="out icon 2 bg"/>
          <p:cNvSpPr/>
          <p:nvPr/>
        </p:nvSpPr>
        <p:spPr>
          <a:xfrm>
            <a:off x="6565392" y="2478024"/>
            <a:ext cx="365760" cy="36576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pic>
        <p:nvPicPr>
          <p:cNvPr id="27" name="out icon 2" descr="out icon 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0490" y="2573122"/>
            <a:ext cx="175565" cy="175565"/>
          </a:xfrm>
          <a:prstGeom prst="rect">
            <a:avLst/>
          </a:prstGeom>
        </p:spPr>
      </p:pic>
      <p:sp>
        <p:nvSpPr>
          <p:cNvPr id="28" name="out text 2"/>
          <p:cNvSpPr txBox="1"/>
          <p:nvPr/>
        </p:nvSpPr>
        <p:spPr>
          <a:xfrm>
            <a:off x="7022592" y="2432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Safest evacuation route</a:t>
            </a:r>
            <a:endParaRPr lang="en-US" sz="1400" dirty="0"/>
          </a:p>
        </p:txBody>
      </p:sp>
      <p:sp>
        <p:nvSpPr>
          <p:cNvPr id="29" name="In3"/>
          <p:cNvSpPr/>
          <p:nvPr/>
        </p:nvSpPr>
        <p:spPr>
          <a:xfrm>
            <a:off x="457200" y="2962656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sp>
        <p:nvSpPr>
          <p:cNvPr id="30" name="in icon 3 bg"/>
          <p:cNvSpPr/>
          <p:nvPr/>
        </p:nvSpPr>
        <p:spPr>
          <a:xfrm>
            <a:off x="530352" y="3008376"/>
            <a:ext cx="365760" cy="36576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pic>
        <p:nvPicPr>
          <p:cNvPr id="31" name="in icon 3" descr="in icon 3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50" y="3103474"/>
            <a:ext cx="175565" cy="175565"/>
          </a:xfrm>
          <a:prstGeom prst="rect">
            <a:avLst/>
          </a:prstGeom>
        </p:spPr>
      </p:pic>
      <p:sp>
        <p:nvSpPr>
          <p:cNvPr id="32" name="in text 3"/>
          <p:cNvSpPr txBox="1"/>
          <p:nvPr/>
        </p:nvSpPr>
        <p:spPr>
          <a:xfrm>
            <a:off x="987552" y="29626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Road network</a:t>
            </a:r>
            <a:endParaRPr lang="en-US" sz="1400" dirty="0"/>
          </a:p>
        </p:txBody>
      </p:sp>
      <p:sp>
        <p:nvSpPr>
          <p:cNvPr id="33" name="Out3"/>
          <p:cNvSpPr/>
          <p:nvPr/>
        </p:nvSpPr>
        <p:spPr>
          <a:xfrm>
            <a:off x="6492240" y="2962656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sp>
        <p:nvSpPr>
          <p:cNvPr id="34" name="out icon 3 bg"/>
          <p:cNvSpPr/>
          <p:nvPr/>
        </p:nvSpPr>
        <p:spPr>
          <a:xfrm>
            <a:off x="6565392" y="3008376"/>
            <a:ext cx="365760" cy="365760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35" name="out icon 3" descr="out icon 3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0490" y="3103474"/>
            <a:ext cx="175565" cy="175565"/>
          </a:xfrm>
          <a:prstGeom prst="rect">
            <a:avLst/>
          </a:prstGeom>
        </p:spPr>
      </p:pic>
      <p:sp>
        <p:nvSpPr>
          <p:cNvPr id="36" name="out text 3"/>
          <p:cNvSpPr txBox="1"/>
          <p:nvPr/>
        </p:nvSpPr>
        <p:spPr>
          <a:xfrm>
            <a:off x="7022592" y="29626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Nearest safe shelter</a:t>
            </a:r>
            <a:endParaRPr lang="en-US" sz="1400" dirty="0"/>
          </a:p>
        </p:txBody>
      </p:sp>
      <p:sp>
        <p:nvSpPr>
          <p:cNvPr id="37" name="In4"/>
          <p:cNvSpPr/>
          <p:nvPr/>
        </p:nvSpPr>
        <p:spPr>
          <a:xfrm>
            <a:off x="457200" y="3493008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sp>
        <p:nvSpPr>
          <p:cNvPr id="38" name="in icon 4 bg"/>
          <p:cNvSpPr/>
          <p:nvPr/>
        </p:nvSpPr>
        <p:spPr>
          <a:xfrm>
            <a:off x="530352" y="3538728"/>
            <a:ext cx="365760" cy="36576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pic>
        <p:nvPicPr>
          <p:cNvPr id="39" name="in icon 4" descr="in icon 4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450" y="3633826"/>
            <a:ext cx="175565" cy="175565"/>
          </a:xfrm>
          <a:prstGeom prst="rect">
            <a:avLst/>
          </a:prstGeom>
        </p:spPr>
      </p:pic>
      <p:sp>
        <p:nvSpPr>
          <p:cNvPr id="40" name="in text 4"/>
          <p:cNvSpPr txBox="1"/>
          <p:nvPr/>
        </p:nvSpPr>
        <p:spPr>
          <a:xfrm>
            <a:off x="987552" y="34930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Shelters &amp; capacity</a:t>
            </a:r>
            <a:endParaRPr lang="en-US" sz="1400" dirty="0"/>
          </a:p>
        </p:txBody>
      </p:sp>
      <p:sp>
        <p:nvSpPr>
          <p:cNvPr id="41" name="Out4"/>
          <p:cNvSpPr/>
          <p:nvPr/>
        </p:nvSpPr>
        <p:spPr>
          <a:xfrm>
            <a:off x="6492240" y="3493008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sp>
        <p:nvSpPr>
          <p:cNvPr id="42" name="out icon 4 bg"/>
          <p:cNvSpPr/>
          <p:nvPr/>
        </p:nvSpPr>
        <p:spPr>
          <a:xfrm>
            <a:off x="6565392" y="3538728"/>
            <a:ext cx="365760" cy="36576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43" name="out icon 4" descr="out icon 4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0490" y="3633826"/>
            <a:ext cx="175565" cy="175565"/>
          </a:xfrm>
          <a:prstGeom prst="rect">
            <a:avLst/>
          </a:prstGeom>
        </p:spPr>
      </p:pic>
      <p:sp>
        <p:nvSpPr>
          <p:cNvPr id="44" name="out text 4"/>
          <p:cNvSpPr txBox="1"/>
          <p:nvPr/>
        </p:nvSpPr>
        <p:spPr>
          <a:xfrm>
            <a:off x="7022592" y="34930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Lives-protected score</a:t>
            </a:r>
            <a:endParaRPr lang="en-US" sz="1400" dirty="0"/>
          </a:p>
        </p:txBody>
      </p:sp>
      <p:sp>
        <p:nvSpPr>
          <p:cNvPr id="45" name="arrow"/>
          <p:cNvSpPr/>
          <p:nvPr/>
        </p:nvSpPr>
        <p:spPr>
          <a:xfrm>
            <a:off x="2788920" y="2606040"/>
            <a:ext cx="320040" cy="365760"/>
          </a:xfrm>
          <a:prstGeom prst="rightArrow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sp>
        <p:nvSpPr>
          <p:cNvPr id="46" name="arrow"/>
          <p:cNvSpPr/>
          <p:nvPr/>
        </p:nvSpPr>
        <p:spPr>
          <a:xfrm>
            <a:off x="6080760" y="2606040"/>
            <a:ext cx="320040" cy="365760"/>
          </a:xfrm>
          <a:prstGeom prst="rightArrow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sp>
        <p:nvSpPr>
          <p:cNvPr id="47" name="AI card"/>
          <p:cNvSpPr/>
          <p:nvPr/>
        </p:nvSpPr>
        <p:spPr>
          <a:xfrm>
            <a:off x="3200400" y="1371600"/>
            <a:ext cx="2743200" cy="2578608"/>
          </a:xfrm>
          <a:prstGeom prst="roundRect">
            <a:avLst>
              <a:gd name="adj" fmla="val 354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sp>
        <p:nvSpPr>
          <p:cNvPr id="48" name="AI brain bg"/>
          <p:cNvSpPr/>
          <p:nvPr/>
        </p:nvSpPr>
        <p:spPr>
          <a:xfrm>
            <a:off x="4251960" y="1554480"/>
            <a:ext cx="640080" cy="640080"/>
          </a:xfrm>
          <a:prstGeom prst="ellipse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pic>
        <p:nvPicPr>
          <p:cNvPr id="49" name="AI brain" descr="AI brai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8381" y="1720901"/>
            <a:ext cx="307238" cy="307238"/>
          </a:xfrm>
          <a:prstGeom prst="rect">
            <a:avLst/>
          </a:prstGeom>
        </p:spPr>
      </p:pic>
      <p:sp>
        <p:nvSpPr>
          <p:cNvPr id="50" name="AI title"/>
          <p:cNvSpPr txBox="1"/>
          <p:nvPr/>
        </p:nvSpPr>
        <p:spPr>
          <a:xfrm>
            <a:off x="32918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flood prediction</a:t>
            </a:r>
            <a:endParaRPr lang="en-US" sz="1800" dirty="0"/>
          </a:p>
        </p:txBody>
      </p:sp>
      <p:sp>
        <p:nvSpPr>
          <p:cNvPr id="51" name="AI sub"/>
          <p:cNvSpPr txBox="1"/>
          <p:nvPr/>
        </p:nvSpPr>
        <p:spPr>
          <a:xfrm>
            <a:off x="329184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Random Forest / XGBoost</a:t>
            </a:r>
            <a:endParaRPr lang="en-US" sz="1400" dirty="0"/>
          </a:p>
        </p:txBody>
      </p:sp>
      <p:sp>
        <p:nvSpPr>
          <p:cNvPr id="52" name="risk dot0"/>
          <p:cNvSpPr/>
          <p:nvPr/>
        </p:nvSpPr>
        <p:spPr>
          <a:xfrm>
            <a:off x="3429000" y="3200400"/>
            <a:ext cx="182880" cy="18288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53" name="risk lbl0"/>
          <p:cNvSpPr txBox="1"/>
          <p:nvPr/>
        </p:nvSpPr>
        <p:spPr>
          <a:xfrm>
            <a:off x="3648456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Low</a:t>
            </a:r>
            <a:endParaRPr lang="en-US" sz="1200" dirty="0"/>
          </a:p>
        </p:txBody>
      </p:sp>
      <p:sp>
        <p:nvSpPr>
          <p:cNvPr id="54" name="risk dot1"/>
          <p:cNvSpPr/>
          <p:nvPr/>
        </p:nvSpPr>
        <p:spPr>
          <a:xfrm>
            <a:off x="4206240" y="3200400"/>
            <a:ext cx="182880" cy="18288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5" name="risk lbl1"/>
          <p:cNvSpPr txBox="1"/>
          <p:nvPr/>
        </p:nvSpPr>
        <p:spPr>
          <a:xfrm>
            <a:off x="4425696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Medium</a:t>
            </a:r>
            <a:endParaRPr lang="en-US" sz="1200" dirty="0"/>
          </a:p>
        </p:txBody>
      </p:sp>
      <p:sp>
        <p:nvSpPr>
          <p:cNvPr id="56" name="risk dot2"/>
          <p:cNvSpPr/>
          <p:nvPr/>
        </p:nvSpPr>
        <p:spPr>
          <a:xfrm>
            <a:off x="4983480" y="3200400"/>
            <a:ext cx="182880" cy="1828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7" name="risk lbl2"/>
          <p:cNvSpPr txBox="1"/>
          <p:nvPr/>
        </p:nvSpPr>
        <p:spPr>
          <a:xfrm>
            <a:off x="5202936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High</a:t>
            </a:r>
            <a:endParaRPr lang="en-US" sz="1200" dirty="0"/>
          </a:p>
        </p:txBody>
      </p:sp>
      <p:sp>
        <p:nvSpPr>
          <p:cNvPr id="58" name="AI example"/>
          <p:cNvSpPr txBox="1"/>
          <p:nvPr/>
        </p:nvSpPr>
        <p:spPr>
          <a:xfrm>
            <a:off x="329184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e.g. rain rising + river rising → 82% flood probability</a:t>
            </a:r>
            <a:endParaRPr lang="en-US" sz="1100" dirty="0"/>
          </a:p>
        </p:txBody>
      </p:sp>
      <p:sp>
        <p:nvSpPr>
          <p:cNvPr id="59" name="Loop ribbon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0" name="Loop text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Rain ↑  →  risk changes  →  roads blocked  →  route changes  →  people reassigned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 flood prediction</a:t>
            </a:r>
            <a:endParaRPr lang="en-US" sz="3000" dirty="0"/>
          </a:p>
        </p:txBody>
      </p:sp>
      <p:sp>
        <p:nvSpPr>
          <p:cNvPr id="3" name="Chart card"/>
          <p:cNvSpPr/>
          <p:nvPr/>
        </p:nvSpPr>
        <p:spPr>
          <a:xfrm>
            <a:off x="457200" y="1188720"/>
            <a:ext cx="5029200" cy="27432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48463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Gauge card"/>
          <p:cNvSpPr/>
          <p:nvPr/>
        </p:nvSpPr>
        <p:spPr>
          <a:xfrm>
            <a:off x="5760720" y="1188720"/>
            <a:ext cx="2926080" cy="27432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pic>
        <p:nvPicPr>
          <p:cNvPr id="6" name="Gauge" descr="Gauge showing 82 percent flood probabil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2194560" cy="2194560"/>
          </a:xfrm>
          <a:prstGeom prst="rect">
            <a:avLst/>
          </a:prstGeom>
        </p:spPr>
      </p:pic>
      <p:sp>
        <p:nvSpPr>
          <p:cNvPr id="7" name="High badge"/>
          <p:cNvSpPr/>
          <p:nvPr/>
        </p:nvSpPr>
        <p:spPr>
          <a:xfrm>
            <a:off x="6400800" y="347472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8" name="High badge text"/>
          <p:cNvSpPr txBox="1"/>
          <p:nvPr/>
        </p:nvSpPr>
        <p:spPr>
          <a:xfrm>
            <a:off x="6400800" y="34747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HIGH RISK</a:t>
            </a:r>
            <a:endParaRPr lang="en-US" sz="1400" dirty="0"/>
          </a:p>
        </p:txBody>
      </p:sp>
      <p:sp>
        <p:nvSpPr>
          <p:cNvPr id="9" name="feature icon 0 bg"/>
          <p:cNvSpPr/>
          <p:nvPr/>
        </p:nvSpPr>
        <p:spPr>
          <a:xfrm>
            <a:off x="457200" y="4160520"/>
            <a:ext cx="457200" cy="45720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pic>
        <p:nvPicPr>
          <p:cNvPr id="10" name="feature icon 0" descr="feature icon 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279392"/>
            <a:ext cx="219456" cy="219456"/>
          </a:xfrm>
          <a:prstGeom prst="rect">
            <a:avLst/>
          </a:prstGeom>
        </p:spPr>
      </p:pic>
      <p:sp>
        <p:nvSpPr>
          <p:cNvPr id="11" name="feature 0"/>
          <p:cNvSpPr txBox="1"/>
          <p:nvPr/>
        </p:nvSpPr>
        <p:spPr>
          <a:xfrm>
            <a:off x="100584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Rainfall rising</a:t>
            </a:r>
            <a:endParaRPr lang="en-US" sz="1400" dirty="0"/>
          </a:p>
        </p:txBody>
      </p:sp>
      <p:sp>
        <p:nvSpPr>
          <p:cNvPr id="12" name="feature icon 1 bg"/>
          <p:cNvSpPr/>
          <p:nvPr/>
        </p:nvSpPr>
        <p:spPr>
          <a:xfrm>
            <a:off x="3246120" y="4160520"/>
            <a:ext cx="457200" cy="45720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pic>
        <p:nvPicPr>
          <p:cNvPr id="13" name="feature icon 1" descr="feature icon 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4279392"/>
            <a:ext cx="219456" cy="219456"/>
          </a:xfrm>
          <a:prstGeom prst="rect">
            <a:avLst/>
          </a:prstGeom>
        </p:spPr>
      </p:pic>
      <p:sp>
        <p:nvSpPr>
          <p:cNvPr id="14" name="feature 1"/>
          <p:cNvSpPr txBox="1"/>
          <p:nvPr/>
        </p:nvSpPr>
        <p:spPr>
          <a:xfrm>
            <a:off x="379476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River level rising</a:t>
            </a:r>
            <a:endParaRPr lang="en-US" sz="1400" dirty="0"/>
          </a:p>
        </p:txBody>
      </p:sp>
      <p:sp>
        <p:nvSpPr>
          <p:cNvPr id="15" name="feature icon 2 bg"/>
          <p:cNvSpPr/>
          <p:nvPr/>
        </p:nvSpPr>
        <p:spPr>
          <a:xfrm>
            <a:off x="6035040" y="4160520"/>
            <a:ext cx="457200" cy="45720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pic>
        <p:nvPicPr>
          <p:cNvPr id="16" name="feature icon 2" descr="feature icon 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4279392"/>
            <a:ext cx="219456" cy="219456"/>
          </a:xfrm>
          <a:prstGeom prst="rect">
            <a:avLst/>
          </a:prstGeom>
        </p:spPr>
      </p:pic>
      <p:sp>
        <p:nvSpPr>
          <p:cNvPr id="17" name="feature 2"/>
          <p:cNvSpPr txBox="1"/>
          <p:nvPr/>
        </p:nvSpPr>
        <p:spPr>
          <a:xfrm>
            <a:off x="658368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Low elevation</a:t>
            </a:r>
            <a:endParaRPr lang="en-US" sz="1400" dirty="0"/>
          </a:p>
        </p:txBody>
      </p:sp>
      <p:sp>
        <p:nvSpPr>
          <p:cNvPr id="18" name="Model note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</a:rPr>
              <a:t>Model: Random Forest first, XGBoost to improve · scikit-learn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Risk zones update with the rain</a:t>
            </a:r>
            <a:endParaRPr lang="en-US" sz="3000" dirty="0"/>
          </a:p>
        </p:txBody>
      </p:sp>
      <p:sp>
        <p:nvSpPr>
          <p:cNvPr id="3" name="Map card"/>
          <p:cNvSpPr/>
          <p:nvPr/>
        </p:nvSpPr>
        <p:spPr>
          <a:xfrm>
            <a:off x="457200" y="1143000"/>
            <a:ext cx="5212080" cy="3648456"/>
          </a:xfrm>
          <a:prstGeom prst="roundRect">
            <a:avLst>
              <a:gd name="adj" fmla="val 25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pic>
        <p:nvPicPr>
          <p:cNvPr id="4" name="Risk map" descr="Flood risk map: river, red high-risk, yellow moderate, green safe zones, roads and shelt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5120640" cy="3566160"/>
          </a:xfrm>
          <a:prstGeom prst="rect">
            <a:avLst/>
          </a:prstGeom>
        </p:spPr>
      </p:pic>
      <p:sp>
        <p:nvSpPr>
          <p:cNvPr id="5" name="Legend 0"/>
          <p:cNvSpPr/>
          <p:nvPr/>
        </p:nvSpPr>
        <p:spPr>
          <a:xfrm>
            <a:off x="5943600" y="1143000"/>
            <a:ext cx="2743200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sp>
        <p:nvSpPr>
          <p:cNvPr id="6" name="Legend dot 0"/>
          <p:cNvSpPr/>
          <p:nvPr/>
        </p:nvSpPr>
        <p:spPr>
          <a:xfrm>
            <a:off x="6108192" y="1399032"/>
            <a:ext cx="329184" cy="32918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Legend title 0"/>
          <p:cNvSpPr txBox="1"/>
          <p:nvPr/>
        </p:nvSpPr>
        <p:spPr>
          <a:xfrm>
            <a:off x="6583680" y="1216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High risk</a:t>
            </a:r>
            <a:endParaRPr lang="en-US" sz="1600" dirty="0"/>
          </a:p>
        </p:txBody>
      </p:sp>
      <p:sp>
        <p:nvSpPr>
          <p:cNvPr id="8" name="Legend text 0"/>
          <p:cNvSpPr txBox="1"/>
          <p:nvPr/>
        </p:nvSpPr>
        <p:spPr>
          <a:xfrm>
            <a:off x="6583680" y="15087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</a:rPr>
              <a:t>Evacuate now; roads here get blocked</a:t>
            </a:r>
            <a:endParaRPr lang="en-US" sz="1200" dirty="0"/>
          </a:p>
        </p:txBody>
      </p:sp>
      <p:sp>
        <p:nvSpPr>
          <p:cNvPr id="9" name="Legend 1"/>
          <p:cNvSpPr/>
          <p:nvPr/>
        </p:nvSpPr>
        <p:spPr>
          <a:xfrm>
            <a:off x="5943600" y="2103120"/>
            <a:ext cx="2743200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sp>
        <p:nvSpPr>
          <p:cNvPr id="10" name="Legend dot 1"/>
          <p:cNvSpPr/>
          <p:nvPr/>
        </p:nvSpPr>
        <p:spPr>
          <a:xfrm>
            <a:off x="6108192" y="2359152"/>
            <a:ext cx="329184" cy="329184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1" name="Legend title 1"/>
          <p:cNvSpPr txBox="1"/>
          <p:nvPr/>
        </p:nvSpPr>
        <p:spPr>
          <a:xfrm>
            <a:off x="6583680" y="2176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Moderate risk</a:t>
            </a:r>
            <a:endParaRPr lang="en-US" sz="1600" dirty="0"/>
          </a:p>
        </p:txBody>
      </p:sp>
      <p:sp>
        <p:nvSpPr>
          <p:cNvPr id="12" name="Legend text 1"/>
          <p:cNvSpPr txBox="1"/>
          <p:nvPr/>
        </p:nvSpPr>
        <p:spPr>
          <a:xfrm>
            <a:off x="6583680" y="24688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</a:rPr>
              <a:t>Watch closely; prepare to move</a:t>
            </a:r>
            <a:endParaRPr lang="en-US" sz="1200" dirty="0"/>
          </a:p>
        </p:txBody>
      </p:sp>
      <p:sp>
        <p:nvSpPr>
          <p:cNvPr id="13" name="Legend 2"/>
          <p:cNvSpPr/>
          <p:nvPr/>
        </p:nvSpPr>
        <p:spPr>
          <a:xfrm>
            <a:off x="5943600" y="3063240"/>
            <a:ext cx="2743200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sp>
        <p:nvSpPr>
          <p:cNvPr id="14" name="Legend dot 2"/>
          <p:cNvSpPr/>
          <p:nvPr/>
        </p:nvSpPr>
        <p:spPr>
          <a:xfrm>
            <a:off x="6108192" y="3319272"/>
            <a:ext cx="329184" cy="329184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Legend title 2"/>
          <p:cNvSpPr txBox="1"/>
          <p:nvPr/>
        </p:nvSpPr>
        <p:spPr>
          <a:xfrm>
            <a:off x="6583680" y="3136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Safe</a:t>
            </a:r>
            <a:endParaRPr lang="en-US" sz="1600" dirty="0"/>
          </a:p>
        </p:txBody>
      </p:sp>
      <p:sp>
        <p:nvSpPr>
          <p:cNvPr id="16" name="Legend text 2"/>
          <p:cNvSpPr txBox="1"/>
          <p:nvPr/>
        </p:nvSpPr>
        <p:spPr>
          <a:xfrm>
            <a:off x="6583680" y="34290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</a:rPr>
              <a:t>Shelters and safe routes live here</a:t>
            </a:r>
            <a:endParaRPr lang="en-US" sz="1200" dirty="0"/>
          </a:p>
        </p:txBody>
      </p:sp>
      <p:sp>
        <p:nvSpPr>
          <p:cNvPr id="17" name="Legend roads"/>
          <p:cNvSpPr/>
          <p:nvPr/>
        </p:nvSpPr>
        <p:spPr>
          <a:xfrm>
            <a:off x="5943600" y="4023360"/>
            <a:ext cx="2743200" cy="768096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sp>
        <p:nvSpPr>
          <p:cNvPr id="18" name="Blocked marker"/>
          <p:cNvSpPr/>
          <p:nvPr/>
        </p:nvSpPr>
        <p:spPr>
          <a:xfrm>
            <a:off x="6108192" y="4224528"/>
            <a:ext cx="365760" cy="365760"/>
          </a:xfrm>
          <a:prstGeom prst="ellipse">
            <a:avLst/>
          </a:prstGeom>
          <a:solidFill>
            <a:srgbClr val="C112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Blocked x"/>
          <p:cNvSpPr txBox="1"/>
          <p:nvPr/>
        </p:nvSpPr>
        <p:spPr>
          <a:xfrm>
            <a:off x="6108192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×</a:t>
            </a:r>
            <a:endParaRPr lang="en-US" sz="1600" dirty="0"/>
          </a:p>
        </p:txBody>
      </p:sp>
      <p:sp>
        <p:nvSpPr>
          <p:cNvPr id="20" name="Blocked text"/>
          <p:cNvSpPr txBox="1"/>
          <p:nvPr/>
        </p:nvSpPr>
        <p:spPr>
          <a:xfrm>
            <a:off x="6583680" y="4023360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Flooded road, removed from routing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When a road floods, the route changes</a:t>
            </a:r>
            <a:endParaRPr lang="en-US" sz="3000" dirty="0"/>
          </a:p>
        </p:txBody>
      </p:sp>
      <p:sp>
        <p:nvSpPr>
          <p:cNvPr id="3" name="Panel 0"/>
          <p:cNvSpPr/>
          <p:nvPr/>
        </p:nvSpPr>
        <p:spPr>
          <a:xfrm>
            <a:off x="457200" y="1143000"/>
            <a:ext cx="4023360" cy="3017520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pic>
        <p:nvPicPr>
          <p:cNvPr id="4" name="Route map 0" descr="Moderate rain evacuation route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3931920" cy="2752344"/>
          </a:xfrm>
          <a:prstGeom prst="rect">
            <a:avLst/>
          </a:prstGeom>
        </p:spPr>
      </p:pic>
      <p:sp>
        <p:nvSpPr>
          <p:cNvPr id="5" name="spacer0"/>
          <p:cNvSpPr/>
          <p:nvPr/>
        </p:nvSpPr>
        <p:spPr>
          <a:xfrm>
            <a:off x="640080" y="3657600"/>
            <a:ext cx="0" cy="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" name="Panel 1"/>
          <p:cNvSpPr/>
          <p:nvPr/>
        </p:nvSpPr>
        <p:spPr>
          <a:xfrm>
            <a:off x="4663440" y="1143000"/>
            <a:ext cx="4023360" cy="3017520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pic>
        <p:nvPicPr>
          <p:cNvPr id="7" name="Route map 1" descr="Heavy rain evacuation route m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88720"/>
            <a:ext cx="3931920" cy="2752344"/>
          </a:xfrm>
          <a:prstGeom prst="rect">
            <a:avLst/>
          </a:prstGeom>
        </p:spPr>
      </p:pic>
      <p:sp>
        <p:nvSpPr>
          <p:cNvPr id="8" name="spacer1"/>
          <p:cNvSpPr/>
          <p:nvPr/>
        </p:nvSpPr>
        <p:spPr>
          <a:xfrm>
            <a:off x="4846320" y="3657600"/>
            <a:ext cx="0" cy="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Cap before"/>
          <p:cNvSpPr txBox="1"/>
          <p:nvPr/>
        </p:nvSpPr>
        <p:spPr>
          <a:xfrm>
            <a:off x="457200" y="39502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Moderate rain: bridge open → Shelter A</a:t>
            </a:r>
            <a:endParaRPr lang="en-US" sz="1200" dirty="0"/>
          </a:p>
        </p:txBody>
      </p:sp>
      <p:sp>
        <p:nvSpPr>
          <p:cNvPr id="10" name="Cap after"/>
          <p:cNvSpPr txBox="1"/>
          <p:nvPr/>
        </p:nvSpPr>
        <p:spPr>
          <a:xfrm>
            <a:off x="4663440" y="39502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Heavy rain: bridge flooded → rerouted to Shelter B</a:t>
            </a:r>
            <a:endParaRPr lang="en-US" sz="1200" dirty="0"/>
          </a:p>
        </p:txBody>
      </p:sp>
      <p:sp>
        <p:nvSpPr>
          <p:cNvPr id="11" name="Change arrow bg"/>
          <p:cNvSpPr/>
          <p:nvPr/>
        </p:nvSpPr>
        <p:spPr>
          <a:xfrm>
            <a:off x="4343400" y="2331720"/>
            <a:ext cx="457200" cy="45720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pic>
        <p:nvPicPr>
          <p:cNvPr id="12" name="Change arrow" descr="Change arr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450592"/>
            <a:ext cx="219456" cy="219456"/>
          </a:xfrm>
          <a:prstGeom prst="rect">
            <a:avLst/>
          </a:prstGeom>
        </p:spPr>
      </p:pic>
      <p:sp>
        <p:nvSpPr>
          <p:cNvPr id="13" name="Algo bar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Algo text"/>
          <p:cNvSpPr txBox="1"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Dijkstra / A*: flooded roads are removed from the graph; cost = distance × risk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Shelter allocation &amp; lives protected</a:t>
            </a:r>
            <a:endParaRPr lang="en-US" sz="3000" dirty="0"/>
          </a:p>
        </p:txBody>
      </p:sp>
      <p:sp>
        <p:nvSpPr>
          <p:cNvPr id="3" name="Chart card"/>
          <p:cNvSpPr/>
          <p:nvPr/>
        </p:nvSpPr>
        <p:spPr>
          <a:xfrm>
            <a:off x="457200" y="1188720"/>
            <a:ext cx="5029200" cy="3063240"/>
          </a:xfrm>
          <a:prstGeom prst="roundRect">
            <a:avLst>
              <a:gd name="adj" fmla="val 298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48463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people"/>
          <p:cNvSpPr/>
          <p:nvPr/>
        </p:nvSpPr>
        <p:spPr>
          <a:xfrm>
            <a:off x="5760720" y="1188720"/>
            <a:ext cx="292608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sp>
        <p:nvSpPr>
          <p:cNvPr id="6" name="Stat coverage"/>
          <p:cNvSpPr/>
          <p:nvPr/>
        </p:nvSpPr>
        <p:spPr>
          <a:xfrm>
            <a:off x="5760720" y="2788920"/>
            <a:ext cx="292608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5000"/>
              </a:srgbClr>
            </a:outerShdw>
          </a:effectLst>
        </p:spPr>
      </p:sp>
      <p:sp>
        <p:nvSpPr>
          <p:cNvPr id="7" name="Protected icon bg"/>
          <p:cNvSpPr/>
          <p:nvPr/>
        </p:nvSpPr>
        <p:spPr>
          <a:xfrm>
            <a:off x="5943600" y="1371600"/>
            <a:ext cx="457200" cy="4572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8" name="Protected icon" descr="Protecte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2" y="1490472"/>
            <a:ext cx="219456" cy="219456"/>
          </a:xfrm>
          <a:prstGeom prst="rect">
            <a:avLst/>
          </a:prstGeom>
        </p:spPr>
      </p:pic>
      <p:sp>
        <p:nvSpPr>
          <p:cNvPr id="9" name="Protected number"/>
          <p:cNvSpPr txBox="1"/>
          <p:nvPr/>
        </p:nvSpPr>
        <p:spPr>
          <a:xfrm>
            <a:off x="6583680" y="1280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4000" dirty="0"/>
          </a:p>
        </p:txBody>
      </p:sp>
      <p:sp>
        <p:nvSpPr>
          <p:cNvPr id="10" name="Protected label"/>
          <p:cNvSpPr txBox="1"/>
          <p:nvPr/>
        </p:nvSpPr>
        <p:spPr>
          <a:xfrm>
            <a:off x="594360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B6C"/>
                </a:solidFill>
              </a:rPr>
              <a:t>people protected</a:t>
            </a:r>
            <a:endParaRPr lang="en-US" sz="1600" dirty="0"/>
          </a:p>
        </p:txBody>
      </p:sp>
      <p:sp>
        <p:nvSpPr>
          <p:cNvPr id="11" name="Coverage icon bg"/>
          <p:cNvSpPr/>
          <p:nvPr/>
        </p:nvSpPr>
        <p:spPr>
          <a:xfrm>
            <a:off x="5943600" y="2971800"/>
            <a:ext cx="457200" cy="45720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pic>
        <p:nvPicPr>
          <p:cNvPr id="12" name="Coverage icon" descr="Coverag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3090672"/>
            <a:ext cx="219456" cy="219456"/>
          </a:xfrm>
          <a:prstGeom prst="rect">
            <a:avLst/>
          </a:prstGeom>
        </p:spPr>
      </p:pic>
      <p:sp>
        <p:nvSpPr>
          <p:cNvPr id="13" name="Coverage number"/>
          <p:cNvSpPr txBox="1"/>
          <p:nvPr/>
        </p:nvSpPr>
        <p:spPr>
          <a:xfrm>
            <a:off x="6583680" y="2880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4" name="Coverage label"/>
          <p:cNvSpPr txBox="1"/>
          <p:nvPr/>
        </p:nvSpPr>
        <p:spPr>
          <a:xfrm>
            <a:off x="5943600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B6C"/>
                </a:solidFill>
              </a:rPr>
              <a:t>evacuation coverage</a:t>
            </a:r>
            <a:endParaRPr lang="en-US" sz="1600" dirty="0"/>
          </a:p>
        </p:txBody>
      </p:sp>
      <p:sp>
        <p:nvSpPr>
          <p:cNvPr id="15" name="Rule"/>
          <p:cNvSpPr txBox="1"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Fill the nearest safe shelter first, then overflow to the next. Never exceed capacity.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Tech stack &amp; live demo</a:t>
            </a:r>
            <a:endParaRPr lang="en-US" sz="3000" dirty="0"/>
          </a:p>
        </p:txBody>
      </p:sp>
      <p:sp>
        <p:nvSpPr>
          <p:cNvPr id="3" name="Build label"/>
          <p:cNvSpPr txBox="1"/>
          <p:nvPr/>
        </p:nvSpPr>
        <p:spPr>
          <a:xfrm>
            <a:off x="4572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D0E1"/>
                </a:solidFill>
              </a:rPr>
              <a:t>BUILD</a:t>
            </a:r>
            <a:endParaRPr lang="en-US" sz="1200" dirty="0"/>
          </a:p>
        </p:txBody>
      </p:sp>
      <p:sp>
        <p:nvSpPr>
          <p:cNvPr id="4" name="stack icon 0 bg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pic>
        <p:nvPicPr>
          <p:cNvPr id="5" name="stack icon 0" descr="stack icon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593799"/>
            <a:ext cx="241402" cy="241402"/>
          </a:xfrm>
          <a:prstGeom prst="rect">
            <a:avLst/>
          </a:prstGeom>
        </p:spPr>
      </p:pic>
      <p:sp>
        <p:nvSpPr>
          <p:cNvPr id="6" name="stack text 0"/>
          <p:cNvSpPr txBox="1"/>
          <p:nvPr/>
        </p:nvSpPr>
        <p:spPr>
          <a:xfrm>
            <a:off x="1097280" y="1463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Frontend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HTML/CSS/JS or React</a:t>
            </a:r>
            <a:endParaRPr lang="en-US" sz="1600" dirty="0"/>
          </a:p>
        </p:txBody>
      </p:sp>
      <p:sp>
        <p:nvSpPr>
          <p:cNvPr id="7" name="stack icon 1 bg"/>
          <p:cNvSpPr/>
          <p:nvPr/>
        </p:nvSpPr>
        <p:spPr>
          <a:xfrm>
            <a:off x="457200" y="2194560"/>
            <a:ext cx="502920" cy="50292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pic>
        <p:nvPicPr>
          <p:cNvPr id="8" name="stack icon 1" descr="stack ic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2325319"/>
            <a:ext cx="241402" cy="241402"/>
          </a:xfrm>
          <a:prstGeom prst="rect">
            <a:avLst/>
          </a:prstGeom>
        </p:spPr>
      </p:pic>
      <p:sp>
        <p:nvSpPr>
          <p:cNvPr id="9" name="stack text 1"/>
          <p:cNvSpPr txBox="1"/>
          <p:nvPr/>
        </p:nvSpPr>
        <p:spPr>
          <a:xfrm>
            <a:off x="109728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OpenStreetMap + Leaflet.js</a:t>
            </a:r>
            <a:endParaRPr lang="en-US" sz="1600" dirty="0"/>
          </a:p>
        </p:txBody>
      </p:sp>
      <p:sp>
        <p:nvSpPr>
          <p:cNvPr id="10" name="stack icon 2 bg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pic>
        <p:nvPicPr>
          <p:cNvPr id="11" name="stack icon 2" descr="stack icon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3056839"/>
            <a:ext cx="241402" cy="241402"/>
          </a:xfrm>
          <a:prstGeom prst="rect">
            <a:avLst/>
          </a:prstGeom>
        </p:spPr>
      </p:pic>
      <p:sp>
        <p:nvSpPr>
          <p:cNvPr id="12" name="stack text 2"/>
          <p:cNvSpPr txBox="1"/>
          <p:nvPr/>
        </p:nvSpPr>
        <p:spPr>
          <a:xfrm>
            <a:off x="109728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Backend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Python, Flask / FastAPI</a:t>
            </a:r>
            <a:endParaRPr lang="en-US" sz="1600" dirty="0"/>
          </a:p>
        </p:txBody>
      </p:sp>
      <p:sp>
        <p:nvSpPr>
          <p:cNvPr id="13" name="stack icon 3 bg"/>
          <p:cNvSpPr/>
          <p:nvPr/>
        </p:nvSpPr>
        <p:spPr>
          <a:xfrm>
            <a:off x="457200" y="3657600"/>
            <a:ext cx="502920" cy="50292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pic>
        <p:nvPicPr>
          <p:cNvPr id="14" name="stack icon 3" descr="stack icon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3788359"/>
            <a:ext cx="241402" cy="241402"/>
          </a:xfrm>
          <a:prstGeom prst="rect">
            <a:avLst/>
          </a:prstGeom>
        </p:spPr>
      </p:pic>
      <p:sp>
        <p:nvSpPr>
          <p:cNvPr id="15" name="stack text 3"/>
          <p:cNvSpPr txBox="1"/>
          <p:nvPr/>
        </p:nvSpPr>
        <p:spPr>
          <a:xfrm>
            <a:off x="1097280" y="3657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 + routing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scikit-learn, Dijkstra / A*</a:t>
            </a:r>
            <a:endParaRPr lang="en-US" sz="1600" dirty="0"/>
          </a:p>
        </p:txBody>
      </p:sp>
      <p:sp>
        <p:nvSpPr>
          <p:cNvPr id="16" name="Demo label"/>
          <p:cNvSpPr txBox="1"/>
          <p:nvPr/>
        </p:nvSpPr>
        <p:spPr>
          <a:xfrm>
            <a:off x="475488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D0E1"/>
                </a:solidFill>
              </a:rPr>
              <a:t>DEMO</a:t>
            </a:r>
            <a:endParaRPr lang="en-US" sz="1200" dirty="0"/>
          </a:p>
        </p:txBody>
      </p:sp>
      <p:sp>
        <p:nvSpPr>
          <p:cNvPr id="17" name="demo card 0"/>
          <p:cNvSpPr/>
          <p:nvPr/>
        </p:nvSpPr>
        <p:spPr>
          <a:xfrm>
            <a:off x="4754880" y="1463040"/>
            <a:ext cx="3931920" cy="621792"/>
          </a:xfrm>
          <a:prstGeom prst="roundRect">
            <a:avLst>
              <a:gd name="adj" fmla="val 14706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8" name="num bg 0"/>
          <p:cNvSpPr/>
          <p:nvPr/>
        </p:nvSpPr>
        <p:spPr>
          <a:xfrm>
            <a:off x="4864608" y="1591056"/>
            <a:ext cx="365760" cy="365760"/>
          </a:xfrm>
          <a:prstGeom prst="ellipse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9" name="num 0"/>
          <p:cNvSpPr txBox="1"/>
          <p:nvPr/>
        </p:nvSpPr>
        <p:spPr>
          <a:xfrm>
            <a:off x="4864608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1</a:t>
            </a:r>
            <a:endParaRPr lang="en-US" sz="1400" dirty="0"/>
          </a:p>
        </p:txBody>
      </p:sp>
      <p:sp>
        <p:nvSpPr>
          <p:cNvPr id="20" name="demo text 0"/>
          <p:cNvSpPr txBox="1"/>
          <p:nvPr/>
        </p:nvSpPr>
        <p:spPr>
          <a:xfrm>
            <a:off x="5349240" y="146304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Click “Heavy Rainfall”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Red risk zones appear</a:t>
            </a:r>
            <a:endParaRPr lang="en-US" sz="1400" dirty="0"/>
          </a:p>
        </p:txBody>
      </p:sp>
      <p:sp>
        <p:nvSpPr>
          <p:cNvPr id="21" name="demo card 1"/>
          <p:cNvSpPr/>
          <p:nvPr/>
        </p:nvSpPr>
        <p:spPr>
          <a:xfrm>
            <a:off x="4754880" y="2194560"/>
            <a:ext cx="3931920" cy="621792"/>
          </a:xfrm>
          <a:prstGeom prst="roundRect">
            <a:avLst>
              <a:gd name="adj" fmla="val 14706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2" name="num bg 1"/>
          <p:cNvSpPr/>
          <p:nvPr/>
        </p:nvSpPr>
        <p:spPr>
          <a:xfrm>
            <a:off x="4864608" y="2322576"/>
            <a:ext cx="365760" cy="365760"/>
          </a:xfrm>
          <a:prstGeom prst="ellipse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23" name="num 1"/>
          <p:cNvSpPr txBox="1"/>
          <p:nvPr/>
        </p:nvSpPr>
        <p:spPr>
          <a:xfrm>
            <a:off x="4864608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demo text 1"/>
          <p:cNvSpPr txBox="1"/>
          <p:nvPr/>
        </p:nvSpPr>
        <p:spPr>
          <a:xfrm>
            <a:off x="5349240" y="219456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Click “Evacuate”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Flooded road detected, route changes</a:t>
            </a:r>
            <a:endParaRPr lang="en-US" sz="1400" dirty="0"/>
          </a:p>
        </p:txBody>
      </p:sp>
      <p:sp>
        <p:nvSpPr>
          <p:cNvPr id="25" name="demo card 2"/>
          <p:cNvSpPr/>
          <p:nvPr/>
        </p:nvSpPr>
        <p:spPr>
          <a:xfrm>
            <a:off x="4754880" y="2926080"/>
            <a:ext cx="3931920" cy="621792"/>
          </a:xfrm>
          <a:prstGeom prst="roundRect">
            <a:avLst>
              <a:gd name="adj" fmla="val 14706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6" name="num bg 2"/>
          <p:cNvSpPr/>
          <p:nvPr/>
        </p:nvSpPr>
        <p:spPr>
          <a:xfrm>
            <a:off x="4864608" y="3054096"/>
            <a:ext cx="365760" cy="365760"/>
          </a:xfrm>
          <a:prstGeom prst="ellipse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27" name="num 2"/>
          <p:cNvSpPr txBox="1"/>
          <p:nvPr/>
        </p:nvSpPr>
        <p:spPr>
          <a:xfrm>
            <a:off x="4864608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demo text 2"/>
          <p:cNvSpPr txBox="1"/>
          <p:nvPr/>
        </p:nvSpPr>
        <p:spPr>
          <a:xfrm>
            <a:off x="5349240" y="292608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Shelter assigned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People reassigned within capacity</a:t>
            </a:r>
            <a:endParaRPr lang="en-US" sz="1400" dirty="0"/>
          </a:p>
        </p:txBody>
      </p:sp>
      <p:sp>
        <p:nvSpPr>
          <p:cNvPr id="29" name="demo card 3"/>
          <p:cNvSpPr/>
          <p:nvPr/>
        </p:nvSpPr>
        <p:spPr>
          <a:xfrm>
            <a:off x="4754880" y="3657600"/>
            <a:ext cx="3931920" cy="621792"/>
          </a:xfrm>
          <a:prstGeom prst="roundRect">
            <a:avLst>
              <a:gd name="adj" fmla="val 14706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0" name="num bg 3"/>
          <p:cNvSpPr/>
          <p:nvPr/>
        </p:nvSpPr>
        <p:spPr>
          <a:xfrm>
            <a:off x="4864608" y="3785616"/>
            <a:ext cx="365760" cy="365760"/>
          </a:xfrm>
          <a:prstGeom prst="ellipse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31" name="num 3"/>
          <p:cNvSpPr txBox="1"/>
          <p:nvPr/>
        </p:nvSpPr>
        <p:spPr>
          <a:xfrm>
            <a:off x="4864608" y="3785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demo text 3"/>
          <p:cNvSpPr txBox="1"/>
          <p:nvPr/>
        </p:nvSpPr>
        <p:spPr>
          <a:xfrm>
            <a:off x="5349240" y="365760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Lives protected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Score updates live</a:t>
            </a:r>
            <a:endParaRPr lang="en-US" sz="1400" dirty="0"/>
          </a:p>
        </p:txBody>
      </p:sp>
      <p:sp>
        <p:nvSpPr>
          <p:cNvPr id="33" name="Closing line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DD0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 changes. Routes change. Lives protected.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odSense">
  <a:themeElements>
    <a:clrScheme name="FloodSense">
      <a:dk1>
        <a:srgbClr val="0B2545"/>
      </a:dk1>
      <a:lt1>
        <a:srgbClr val="FFFFFF"/>
      </a:lt1>
      <a:dk2>
        <a:srgbClr val="13315C"/>
      </a:dk2>
      <a:lt2>
        <a:srgbClr val="EEF3F6"/>
      </a:lt2>
      <a:accent1>
        <a:srgbClr val="1E78C8"/>
      </a:accent1>
      <a:accent2>
        <a:srgbClr val="E4572E"/>
      </a:accent2>
      <a:accent3>
        <a:srgbClr val="F5C842"/>
      </a:accent3>
      <a:accent4>
        <a:srgbClr val="2E9E5B"/>
      </a:accent4>
      <a:accent5>
        <a:srgbClr val="0B6E4F"/>
      </a:accent5>
      <a:accent6>
        <a:srgbClr val="4DD0E1"/>
      </a:accent6>
      <a:hlink>
        <a:srgbClr val="1E78C8"/>
      </a:hlink>
      <a:folHlink>
        <a:srgbClr val="13315C"/>
      </a:folHlink>
    </a:clrScheme>
    <a:fontScheme name="FloodSen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FloodSense AI</dc:title>
  <dc:subject>PptxGenJS Presentation</dc:subject>
  <dc:creator>PptxGenJS</dc:creator>
  <cp:lastModifiedBy>PptxGenJS</cp:lastModifiedBy>
  <cp:revision>1</cp:revision>
  <dcterms:created xsi:type="dcterms:W3CDTF">2026-10-10T05:32:27Z</dcterms:created>
  <dcterms:modified xsi:type="dcterms:W3CDTF">2026-10-10T05:32:27Z</dcterms:modified>
</cp:coreProperties>
</file>